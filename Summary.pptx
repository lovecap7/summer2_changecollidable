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6" r:id="rId1"/>
  </p:sldMasterIdLst>
  <p:notesMasterIdLst>
    <p:notesMasterId r:id="rId7"/>
  </p:notesMasterIdLst>
  <p:sldIdLst>
    <p:sldId id="257" r:id="rId2"/>
    <p:sldId id="258" r:id="rId3"/>
    <p:sldId id="261" r:id="rId4"/>
    <p:sldId id="262" r:id="rId5"/>
    <p:sldId id="263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3" d="2"/>
        <a:sy n="3" d="2"/>
      </p:scale>
      <p:origin x="-6" y="-18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0D111D-EDAD-4518-AFF1-94E422739822}" type="datetimeFigureOut">
              <a:rPr kumimoji="1" lang="ja-JP" altLang="en-US" smtClean="0"/>
              <a:t>2025/12/10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5FE7DB-6A2A-4132-8251-99E75B819AF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435719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99268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48305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16388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04970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12/10/2025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43332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12/10/2025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697780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12/10/2025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913562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381243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7DA38F49-B3E2-4BF0-BEC7-C30D34ABBB8D}" type="datetime1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917634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パノラマ写真 (キャプション付き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60265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とキャプショ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7853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用 (キャプション付き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397806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041336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用付きの名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ja-JP" altLang="en-US"/>
              <a:t>マスター テキストの書式設定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915326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または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ja-JP" altLang="en-US"/>
              <a:t>マスター テキストの書式設定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441163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044978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125079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7DA38F49-B3E2-4BF0-BEC7-C30D34ABBB8D}" type="datetime1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80719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87" r:id="rId1"/>
    <p:sldLayoutId id="2147483788" r:id="rId2"/>
    <p:sldLayoutId id="2147483789" r:id="rId3"/>
    <p:sldLayoutId id="2147483790" r:id="rId4"/>
    <p:sldLayoutId id="2147483791" r:id="rId5"/>
    <p:sldLayoutId id="2147483792" r:id="rId6"/>
    <p:sldLayoutId id="2147483793" r:id="rId7"/>
    <p:sldLayoutId id="2147483794" r:id="rId8"/>
    <p:sldLayoutId id="2147483795" r:id="rId9"/>
    <p:sldLayoutId id="2147483796" r:id="rId10"/>
    <p:sldLayoutId id="2147483797" r:id="rId11"/>
    <p:sldLayoutId id="2147483798" r:id="rId12"/>
    <p:sldLayoutId id="2147483799" r:id="rId13"/>
    <p:sldLayoutId id="2147483800" r:id="rId14"/>
    <p:sldLayoutId id="2147483801" r:id="rId15"/>
    <p:sldLayoutId id="2147483802" r:id="rId16"/>
    <p:sldLayoutId id="2147483803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kumimoji="1"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 kumimoji="1">
          <a:solidFill>
            <a:schemeClr val="tx2"/>
          </a:solidFill>
        </a:defRPr>
      </a:lvl2pPr>
      <a:lvl3pPr eaLnBrk="1" hangingPunct="1">
        <a:defRPr kumimoji="1">
          <a:solidFill>
            <a:schemeClr val="tx2"/>
          </a:solidFill>
        </a:defRPr>
      </a:lvl3pPr>
      <a:lvl4pPr eaLnBrk="1" hangingPunct="1">
        <a:defRPr kumimoji="1">
          <a:solidFill>
            <a:schemeClr val="tx2"/>
          </a:solidFill>
        </a:defRPr>
      </a:lvl4pPr>
      <a:lvl5pPr eaLnBrk="1" hangingPunct="1">
        <a:defRPr kumimoji="1">
          <a:solidFill>
            <a:schemeClr val="tx2"/>
          </a:solidFill>
        </a:defRPr>
      </a:lvl5pPr>
      <a:lvl6pPr eaLnBrk="1" hangingPunct="1">
        <a:defRPr kumimoji="1">
          <a:solidFill>
            <a:schemeClr val="tx2"/>
          </a:solidFill>
        </a:defRPr>
      </a:lvl6pPr>
      <a:lvl7pPr eaLnBrk="1" hangingPunct="1">
        <a:defRPr kumimoji="1">
          <a:solidFill>
            <a:schemeClr val="tx2"/>
          </a:solidFill>
        </a:defRPr>
      </a:lvl7pPr>
      <a:lvl8pPr eaLnBrk="1" hangingPunct="1">
        <a:defRPr kumimoji="1">
          <a:solidFill>
            <a:schemeClr val="tx2"/>
          </a:solidFill>
        </a:defRPr>
      </a:lvl8pPr>
      <a:lvl9pPr eaLnBrk="1" hangingPunct="1">
        <a:defRPr kumimoji="1"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kumimoji="1"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kumimoji="1"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kumimoji="1"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kumimoji="1"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kumimoji="1"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kumimoji="1"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kumimoji="1"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kumimoji="1"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kumimoji="1"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10.png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632DC6-0512-3B9A-DA52-D7DFF6625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13C1A78D-7639-09E5-B9AB-27412F152389}"/>
              </a:ext>
            </a:extLst>
          </p:cNvPr>
          <p:cNvSpPr/>
          <p:nvPr/>
        </p:nvSpPr>
        <p:spPr>
          <a:xfrm>
            <a:off x="554181" y="406400"/>
            <a:ext cx="11083637" cy="5938982"/>
          </a:xfrm>
          <a:prstGeom prst="rect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kumimoji="1" lang="en-US" altLang="ja-JP" sz="2400" dirty="0">
                <a:solidFill>
                  <a:schemeClr val="tx1"/>
                </a:solidFill>
                <a:latin typeface="+mn-ea"/>
              </a:rPr>
              <a:t>	</a:t>
            </a:r>
          </a:p>
          <a:p>
            <a:pPr>
              <a:lnSpc>
                <a:spcPct val="150000"/>
              </a:lnSpc>
            </a:pPr>
            <a:r>
              <a:rPr kumimoji="1" lang="en-US" altLang="ja-JP" sz="2400" dirty="0">
                <a:solidFill>
                  <a:schemeClr val="tx1"/>
                </a:solidFill>
                <a:latin typeface="+mn-ea"/>
              </a:rPr>
              <a:t>		</a:t>
            </a:r>
            <a:r>
              <a:rPr kumimoji="1" lang="ja-JP" altLang="en-US" sz="2400" dirty="0">
                <a:solidFill>
                  <a:schemeClr val="tx1"/>
                </a:solidFill>
                <a:latin typeface="+mn-ea"/>
              </a:rPr>
              <a:t>作品名 </a:t>
            </a:r>
            <a:r>
              <a:rPr kumimoji="1" lang="en-US" altLang="ja-JP" sz="2400" dirty="0">
                <a:solidFill>
                  <a:schemeClr val="tx1"/>
                </a:solidFill>
                <a:latin typeface="+mn-ea"/>
              </a:rPr>
              <a:t>	: BRAVE BLADE (</a:t>
            </a:r>
            <a:r>
              <a:rPr kumimoji="1" lang="ja-JP" altLang="en-US" sz="2400" dirty="0">
                <a:solidFill>
                  <a:schemeClr val="tx1"/>
                </a:solidFill>
                <a:latin typeface="+mn-ea"/>
              </a:rPr>
              <a:t>ブレイブブレイド</a:t>
            </a:r>
            <a:r>
              <a:rPr kumimoji="1" lang="en-US" altLang="ja-JP" sz="2400" dirty="0">
                <a:solidFill>
                  <a:schemeClr val="tx1"/>
                </a:solidFill>
                <a:latin typeface="+mn-ea"/>
              </a:rPr>
              <a:t>)</a:t>
            </a:r>
          </a:p>
          <a:p>
            <a:pPr>
              <a:lnSpc>
                <a:spcPct val="150000"/>
              </a:lnSpc>
            </a:pPr>
            <a:r>
              <a:rPr kumimoji="1" lang="en-US" altLang="ja-JP" sz="2400" dirty="0">
                <a:solidFill>
                  <a:schemeClr val="tx1"/>
                </a:solidFill>
                <a:latin typeface="+mn-ea"/>
              </a:rPr>
              <a:t>		</a:t>
            </a:r>
            <a:r>
              <a:rPr kumimoji="1" lang="ja-JP" altLang="en-US" sz="2400" dirty="0">
                <a:solidFill>
                  <a:schemeClr val="tx1"/>
                </a:solidFill>
                <a:latin typeface="+mn-ea"/>
              </a:rPr>
              <a:t>ジャンル</a:t>
            </a:r>
            <a:r>
              <a:rPr kumimoji="1" lang="en-US" altLang="ja-JP" sz="2400" dirty="0">
                <a:solidFill>
                  <a:schemeClr val="tx1"/>
                </a:solidFill>
                <a:latin typeface="+mn-ea"/>
              </a:rPr>
              <a:t>	: 3D</a:t>
            </a:r>
            <a:r>
              <a:rPr kumimoji="1" lang="ja-JP" altLang="en-US" sz="2400" dirty="0">
                <a:solidFill>
                  <a:schemeClr val="tx1"/>
                </a:solidFill>
                <a:latin typeface="+mn-ea"/>
              </a:rPr>
              <a:t>アクション</a:t>
            </a:r>
            <a:endParaRPr kumimoji="1" lang="en-US" altLang="ja-JP" sz="24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kumimoji="1" lang="en-US" altLang="ja-JP" sz="2400" dirty="0">
                <a:solidFill>
                  <a:schemeClr val="tx1"/>
                </a:solidFill>
                <a:latin typeface="+mn-ea"/>
              </a:rPr>
              <a:t>		</a:t>
            </a:r>
            <a:r>
              <a:rPr kumimoji="1" lang="ja-JP" altLang="en-US" sz="2400" dirty="0">
                <a:solidFill>
                  <a:schemeClr val="tx1"/>
                </a:solidFill>
                <a:latin typeface="+mn-ea"/>
              </a:rPr>
              <a:t>開発期間 </a:t>
            </a:r>
            <a:r>
              <a:rPr kumimoji="1" lang="en-US" altLang="ja-JP" sz="2400" dirty="0">
                <a:solidFill>
                  <a:schemeClr val="tx1"/>
                </a:solidFill>
                <a:latin typeface="+mn-ea"/>
              </a:rPr>
              <a:t>: 2025</a:t>
            </a:r>
            <a:r>
              <a:rPr kumimoji="1" lang="ja-JP" altLang="en-US" sz="2400" dirty="0">
                <a:solidFill>
                  <a:schemeClr val="tx1"/>
                </a:solidFill>
                <a:latin typeface="+mn-ea"/>
              </a:rPr>
              <a:t>年</a:t>
            </a:r>
            <a:r>
              <a:rPr kumimoji="1" lang="en-US" altLang="ja-JP" sz="2400" dirty="0">
                <a:solidFill>
                  <a:schemeClr val="tx1"/>
                </a:solidFill>
                <a:latin typeface="+mn-ea"/>
              </a:rPr>
              <a:t>6</a:t>
            </a:r>
            <a:r>
              <a:rPr kumimoji="1" lang="ja-JP" altLang="en-US" sz="2400" dirty="0">
                <a:solidFill>
                  <a:schemeClr val="tx1"/>
                </a:solidFill>
                <a:latin typeface="+mn-ea"/>
              </a:rPr>
              <a:t>月 ～ </a:t>
            </a:r>
            <a:r>
              <a:rPr kumimoji="1" lang="en-US" altLang="ja-JP" sz="2400" dirty="0">
                <a:solidFill>
                  <a:schemeClr val="tx1"/>
                </a:solidFill>
                <a:latin typeface="+mn-ea"/>
              </a:rPr>
              <a:t>9</a:t>
            </a:r>
            <a:r>
              <a:rPr kumimoji="1" lang="ja-JP" altLang="en-US" sz="2400" dirty="0">
                <a:solidFill>
                  <a:schemeClr val="tx1"/>
                </a:solidFill>
                <a:latin typeface="+mn-ea"/>
              </a:rPr>
              <a:t>月 </a:t>
            </a:r>
            <a:r>
              <a:rPr kumimoji="1" lang="en-US" altLang="ja-JP" sz="2400" dirty="0">
                <a:solidFill>
                  <a:schemeClr val="tx1"/>
                </a:solidFill>
                <a:latin typeface="+mn-ea"/>
              </a:rPr>
              <a:t>(</a:t>
            </a:r>
            <a:r>
              <a:rPr kumimoji="1" lang="ja-JP" altLang="en-US" sz="2400" dirty="0">
                <a:solidFill>
                  <a:schemeClr val="tx1"/>
                </a:solidFill>
                <a:latin typeface="+mn-ea"/>
              </a:rPr>
              <a:t>合計</a:t>
            </a:r>
            <a:r>
              <a:rPr kumimoji="1" lang="en-US" altLang="ja-JP" sz="2400" dirty="0">
                <a:solidFill>
                  <a:schemeClr val="tx1"/>
                </a:solidFill>
                <a:latin typeface="+mn-ea"/>
              </a:rPr>
              <a:t>3</a:t>
            </a:r>
            <a:r>
              <a:rPr kumimoji="1" lang="ja-JP" altLang="en-US" sz="2400" dirty="0">
                <a:solidFill>
                  <a:schemeClr val="tx1"/>
                </a:solidFill>
                <a:latin typeface="+mn-ea"/>
              </a:rPr>
              <a:t>ヶ月</a:t>
            </a:r>
            <a:r>
              <a:rPr kumimoji="1" lang="en-US" altLang="ja-JP" sz="2400" dirty="0">
                <a:solidFill>
                  <a:schemeClr val="tx1"/>
                </a:solidFill>
                <a:latin typeface="+mn-ea"/>
              </a:rPr>
              <a:t>)</a:t>
            </a:r>
          </a:p>
          <a:p>
            <a:pPr>
              <a:lnSpc>
                <a:spcPct val="150000"/>
              </a:lnSpc>
            </a:pPr>
            <a:r>
              <a:rPr kumimoji="1" lang="en-US" altLang="ja-JP" sz="2400" dirty="0">
                <a:solidFill>
                  <a:schemeClr val="tx1"/>
                </a:solidFill>
                <a:latin typeface="+mn-ea"/>
              </a:rPr>
              <a:t>		</a:t>
            </a:r>
            <a:r>
              <a:rPr kumimoji="1" lang="ja-JP" altLang="en-US" sz="2400" dirty="0">
                <a:solidFill>
                  <a:schemeClr val="tx1"/>
                </a:solidFill>
                <a:latin typeface="+mn-ea"/>
              </a:rPr>
              <a:t>開発環境 </a:t>
            </a:r>
            <a:r>
              <a:rPr kumimoji="1" lang="en-US" altLang="ja-JP" sz="2400" dirty="0">
                <a:solidFill>
                  <a:schemeClr val="tx1"/>
                </a:solidFill>
                <a:latin typeface="+mn-ea"/>
              </a:rPr>
              <a:t>: </a:t>
            </a:r>
            <a:r>
              <a:rPr lang="en-US" altLang="ja-JP" sz="2400" dirty="0">
                <a:solidFill>
                  <a:schemeClr val="tx1"/>
                </a:solidFill>
                <a:latin typeface="+mn-ea"/>
              </a:rPr>
              <a:t>Visual Studio 2022</a:t>
            </a:r>
            <a:r>
              <a:rPr lang="ja-JP" altLang="en-US" sz="2400" dirty="0">
                <a:solidFill>
                  <a:schemeClr val="tx1"/>
                </a:solidFill>
                <a:latin typeface="+mn-ea"/>
              </a:rPr>
              <a:t>、</a:t>
            </a:r>
            <a:r>
              <a:rPr lang="en-US" altLang="ja-JP" sz="2400" dirty="0">
                <a:solidFill>
                  <a:schemeClr val="tx1"/>
                </a:solidFill>
                <a:latin typeface="+mn-ea"/>
              </a:rPr>
              <a:t>DX</a:t>
            </a:r>
            <a:r>
              <a:rPr lang="ja-JP" altLang="en-US" sz="2400" dirty="0">
                <a:solidFill>
                  <a:schemeClr val="tx1"/>
                </a:solidFill>
                <a:latin typeface="+mn-ea"/>
              </a:rPr>
              <a:t>ライブラリ、一部</a:t>
            </a:r>
            <a:r>
              <a:rPr lang="en-US" altLang="ja-JP" sz="2400" dirty="0">
                <a:solidFill>
                  <a:schemeClr val="tx1"/>
                </a:solidFill>
                <a:latin typeface="+mn-ea"/>
              </a:rPr>
              <a:t>Unity</a:t>
            </a:r>
          </a:p>
          <a:p>
            <a:pPr>
              <a:lnSpc>
                <a:spcPct val="150000"/>
              </a:lnSpc>
            </a:pPr>
            <a:r>
              <a:rPr kumimoji="1" lang="en-US" altLang="ja-JP" sz="2400" dirty="0">
                <a:solidFill>
                  <a:schemeClr val="tx1"/>
                </a:solidFill>
                <a:latin typeface="+mn-ea"/>
              </a:rPr>
              <a:t>		</a:t>
            </a:r>
            <a:r>
              <a:rPr kumimoji="1" lang="ja-JP" altLang="en-US" sz="2400" dirty="0">
                <a:solidFill>
                  <a:schemeClr val="tx1"/>
                </a:solidFill>
                <a:latin typeface="+mn-ea"/>
              </a:rPr>
              <a:t>言語 </a:t>
            </a:r>
            <a:r>
              <a:rPr kumimoji="1" lang="en-US" altLang="ja-JP" sz="2400" dirty="0">
                <a:solidFill>
                  <a:schemeClr val="tx1"/>
                </a:solidFill>
                <a:latin typeface="+mn-ea"/>
              </a:rPr>
              <a:t>		: C++</a:t>
            </a:r>
            <a:r>
              <a:rPr kumimoji="1" lang="ja-JP" altLang="en-US" sz="2400" dirty="0">
                <a:solidFill>
                  <a:schemeClr val="tx1"/>
                </a:solidFill>
                <a:latin typeface="+mn-ea"/>
              </a:rPr>
              <a:t>、一部</a:t>
            </a:r>
            <a:r>
              <a:rPr kumimoji="1" lang="en-US" altLang="ja-JP" sz="2400" dirty="0">
                <a:solidFill>
                  <a:schemeClr val="tx1"/>
                </a:solidFill>
                <a:latin typeface="+mn-ea"/>
              </a:rPr>
              <a:t>C#</a:t>
            </a:r>
          </a:p>
          <a:p>
            <a:pPr>
              <a:lnSpc>
                <a:spcPct val="150000"/>
              </a:lnSpc>
            </a:pPr>
            <a:r>
              <a:rPr kumimoji="1" lang="en-US" altLang="ja-JP" sz="2400" dirty="0">
                <a:solidFill>
                  <a:schemeClr val="tx1"/>
                </a:solidFill>
                <a:latin typeface="+mn-ea"/>
              </a:rPr>
              <a:t>		</a:t>
            </a:r>
            <a:r>
              <a:rPr kumimoji="1" lang="ja-JP" altLang="en-US" sz="2400" dirty="0">
                <a:solidFill>
                  <a:schemeClr val="tx1"/>
                </a:solidFill>
                <a:latin typeface="+mn-ea"/>
              </a:rPr>
              <a:t>開発人数 </a:t>
            </a:r>
            <a:r>
              <a:rPr kumimoji="1" lang="en-US" altLang="ja-JP" sz="2400" dirty="0">
                <a:solidFill>
                  <a:schemeClr val="tx1"/>
                </a:solidFill>
                <a:latin typeface="+mn-ea"/>
              </a:rPr>
              <a:t>: 1</a:t>
            </a:r>
            <a:r>
              <a:rPr kumimoji="1" lang="ja-JP" altLang="en-US" sz="2400" dirty="0">
                <a:solidFill>
                  <a:schemeClr val="tx1"/>
                </a:solidFill>
                <a:latin typeface="+mn-ea"/>
              </a:rPr>
              <a:t>人</a:t>
            </a:r>
            <a:endParaRPr kumimoji="1" lang="en-US" altLang="ja-JP" sz="24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kumimoji="1" lang="en-US" altLang="ja-JP" sz="2400" dirty="0">
                <a:solidFill>
                  <a:schemeClr val="tx1"/>
                </a:solidFill>
                <a:latin typeface="+mn-ea"/>
              </a:rPr>
              <a:t>		</a:t>
            </a:r>
            <a:r>
              <a:rPr kumimoji="1" lang="ja-JP" altLang="en-US" sz="2400" dirty="0">
                <a:solidFill>
                  <a:schemeClr val="tx1"/>
                </a:solidFill>
                <a:latin typeface="+mn-ea"/>
              </a:rPr>
              <a:t>担当箇所 </a:t>
            </a:r>
            <a:r>
              <a:rPr kumimoji="1" lang="en-US" altLang="ja-JP" sz="2400" dirty="0">
                <a:solidFill>
                  <a:schemeClr val="tx1"/>
                </a:solidFill>
                <a:latin typeface="+mn-ea"/>
              </a:rPr>
              <a:t>: </a:t>
            </a:r>
            <a:r>
              <a:rPr kumimoji="1" lang="ja-JP" altLang="en-US" sz="2400" dirty="0">
                <a:solidFill>
                  <a:schemeClr val="tx1"/>
                </a:solidFill>
                <a:latin typeface="+mn-ea"/>
              </a:rPr>
              <a:t>プログラム全般</a:t>
            </a:r>
            <a:endParaRPr kumimoji="1" lang="en-US" altLang="ja-JP" sz="24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kumimoji="1" lang="en-US" altLang="ja-JP" sz="2400" dirty="0">
                <a:solidFill>
                  <a:schemeClr val="tx1"/>
                </a:solidFill>
                <a:latin typeface="+mn-ea"/>
              </a:rPr>
              <a:t>		</a:t>
            </a:r>
            <a:r>
              <a:rPr kumimoji="1" lang="ja-JP" altLang="en-US" sz="2400" dirty="0">
                <a:solidFill>
                  <a:schemeClr val="tx1"/>
                </a:solidFill>
                <a:latin typeface="+mn-ea"/>
              </a:rPr>
              <a:t>動作環境 </a:t>
            </a:r>
            <a:r>
              <a:rPr kumimoji="1" lang="en-US" altLang="ja-JP" sz="2400" dirty="0">
                <a:solidFill>
                  <a:schemeClr val="tx1"/>
                </a:solidFill>
                <a:latin typeface="+mn-ea"/>
              </a:rPr>
              <a:t>: Windows</a:t>
            </a:r>
          </a:p>
        </p:txBody>
      </p:sp>
      <p:pic>
        <p:nvPicPr>
          <p:cNvPr id="10" name="図 9" descr="おもちゃ, 写真, ケーキ, テーブル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D4E673F5-30DE-D45A-CCEB-C6BFFE14A5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9" y="3375891"/>
            <a:ext cx="4475937" cy="251924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8702959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B37237-AB6F-3DBE-AE67-89C7B38DD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E996A838-8CD1-11E9-D22B-8F72A1F56E18}"/>
              </a:ext>
            </a:extLst>
          </p:cNvPr>
          <p:cNvSpPr/>
          <p:nvPr/>
        </p:nvSpPr>
        <p:spPr>
          <a:xfrm>
            <a:off x="554181" y="406400"/>
            <a:ext cx="11083637" cy="5938982"/>
          </a:xfrm>
          <a:prstGeom prst="rect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kumimoji="1" lang="en-US" altLang="ja-JP" sz="2400" dirty="0">
                <a:solidFill>
                  <a:schemeClr val="tx1"/>
                </a:solidFill>
                <a:latin typeface="+mn-ea"/>
              </a:rPr>
              <a:t>	</a:t>
            </a:r>
            <a:r>
              <a:rPr kumimoji="1" lang="ja-JP" altLang="en-US" sz="3200" dirty="0">
                <a:solidFill>
                  <a:schemeClr val="tx1"/>
                </a:solidFill>
                <a:latin typeface="+mn-ea"/>
              </a:rPr>
              <a:t>ゲーム概要</a:t>
            </a:r>
            <a:endParaRPr kumimoji="1" lang="en-US" altLang="ja-JP" sz="2400" dirty="0">
              <a:solidFill>
                <a:schemeClr val="tx1"/>
              </a:solidFill>
              <a:latin typeface="+mn-ea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kumimoji="1" lang="ja-JP" altLang="en-US" sz="2200" dirty="0">
                <a:solidFill>
                  <a:schemeClr val="tx1"/>
                </a:solidFill>
                <a:latin typeface="+mn-ea"/>
              </a:rPr>
              <a:t>攻撃やジャンプ、回避といった基本的なアクションのそろった</a:t>
            </a:r>
            <a:r>
              <a:rPr kumimoji="1" lang="en-US" altLang="ja-JP" sz="2200" dirty="0">
                <a:solidFill>
                  <a:schemeClr val="tx1"/>
                </a:solidFill>
                <a:latin typeface="+mn-ea"/>
              </a:rPr>
              <a:t>3D</a:t>
            </a:r>
            <a:r>
              <a:rPr kumimoji="1" lang="ja-JP" altLang="en-US" sz="2200" dirty="0">
                <a:solidFill>
                  <a:schemeClr val="tx1"/>
                </a:solidFill>
                <a:latin typeface="+mn-ea"/>
              </a:rPr>
              <a:t>アクションゲーム</a:t>
            </a:r>
            <a:endParaRPr kumimoji="1" lang="en-US" altLang="ja-JP" sz="2200" dirty="0">
              <a:solidFill>
                <a:schemeClr val="tx1"/>
              </a:solidFill>
              <a:latin typeface="+mn-ea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kumimoji="1" lang="ja-JP" altLang="en-US" sz="2200" dirty="0">
                <a:solidFill>
                  <a:schemeClr val="tx1"/>
                </a:solidFill>
                <a:latin typeface="+mn-ea"/>
              </a:rPr>
              <a:t>ステージの最後にいるボスを倒すとクリア</a:t>
            </a:r>
            <a:endParaRPr kumimoji="1" lang="en-US" altLang="ja-JP" sz="2200" dirty="0">
              <a:solidFill>
                <a:schemeClr val="tx1"/>
              </a:solidFill>
              <a:latin typeface="+mn-ea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kumimoji="1" lang="ja-JP" altLang="en-US" sz="2200" dirty="0">
                <a:solidFill>
                  <a:schemeClr val="tx1"/>
                </a:solidFill>
                <a:latin typeface="+mn-ea"/>
              </a:rPr>
              <a:t>撃破やアイテム、タイムなどでスコアを稼いでハイスコアを更新しよう</a:t>
            </a:r>
            <a:endParaRPr kumimoji="1" lang="en-US" altLang="ja-JP" sz="2200" dirty="0">
              <a:solidFill>
                <a:schemeClr val="tx1"/>
              </a:solidFill>
              <a:latin typeface="+mn-ea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endParaRPr kumimoji="1" lang="en-US" altLang="ja-JP" sz="2400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5F779AD0-BBA9-62A1-954A-3DCE585F04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397" y="3123684"/>
            <a:ext cx="5401429" cy="271500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5" name="図 4" descr="ダイアグラム&#10;&#10;AI 生成コンテンツは誤りを含む可能性があります。">
            <a:extLst>
              <a:ext uri="{FF2B5EF4-FFF2-40B4-BE49-F238E27FC236}">
                <a16:creationId xmlns:a16="http://schemas.microsoft.com/office/drawing/2014/main" id="{1B77DE05-94C6-71CD-A79C-DDD2277A80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0762" y="3123684"/>
            <a:ext cx="4840119" cy="271500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0139274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AE535A-ABA1-35EE-59E9-D995EAC14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360B9A8B-F2EB-809E-3E81-57B854E3CB58}"/>
              </a:ext>
            </a:extLst>
          </p:cNvPr>
          <p:cNvSpPr/>
          <p:nvPr/>
        </p:nvSpPr>
        <p:spPr>
          <a:xfrm>
            <a:off x="554181" y="406400"/>
            <a:ext cx="11083637" cy="5938982"/>
          </a:xfrm>
          <a:prstGeom prst="rect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kumimoji="1" lang="en-US" altLang="ja-JP" sz="2400" dirty="0">
                <a:solidFill>
                  <a:schemeClr val="tx1"/>
                </a:solidFill>
                <a:latin typeface="+mn-ea"/>
              </a:rPr>
              <a:t>	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C23A152-24E0-E31B-6C01-3E3934B09F5B}"/>
              </a:ext>
            </a:extLst>
          </p:cNvPr>
          <p:cNvSpPr txBox="1"/>
          <p:nvPr/>
        </p:nvSpPr>
        <p:spPr>
          <a:xfrm>
            <a:off x="820390" y="671001"/>
            <a:ext cx="693545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4400" u="sng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Unity</a:t>
            </a:r>
            <a:r>
              <a:rPr kumimoji="1" lang="ja-JP" altLang="en-US" sz="4400" u="sng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を組み合わせた開発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27AE4D35-3885-36E8-ABF0-DF52EF68E5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360" y="3014983"/>
            <a:ext cx="5041469" cy="234637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78B635FF-2DD4-EBF1-0F6C-AC6CF906147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6314"/>
          <a:stretch>
            <a:fillRect/>
          </a:stretch>
        </p:blipFill>
        <p:spPr>
          <a:xfrm>
            <a:off x="6233170" y="4654534"/>
            <a:ext cx="5041470" cy="70682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4">
            <a:extLst>
              <a:ext uri="{FF2B5EF4-FFF2-40B4-BE49-F238E27FC236}">
                <a16:creationId xmlns:a16="http://schemas.microsoft.com/office/drawing/2014/main" id="{373412FA-B91E-95CC-9400-C9566AE102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85657" y="2810355"/>
            <a:ext cx="1426536" cy="1655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90DD2063-C18B-D575-33A2-A7C31590F2BB}"/>
              </a:ext>
            </a:extLst>
          </p:cNvPr>
          <p:cNvSpPr txBox="1"/>
          <p:nvPr/>
        </p:nvSpPr>
        <p:spPr>
          <a:xfrm>
            <a:off x="6562191" y="3311153"/>
            <a:ext cx="16071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書き出し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5B89E248-C327-F675-A55A-7F364ACAE5F8}"/>
              </a:ext>
            </a:extLst>
          </p:cNvPr>
          <p:cNvSpPr txBox="1"/>
          <p:nvPr/>
        </p:nvSpPr>
        <p:spPr>
          <a:xfrm>
            <a:off x="1704290" y="1705861"/>
            <a:ext cx="9263845" cy="95410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sz="28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Unity</a:t>
            </a:r>
            <a:r>
              <a:rPr kumimoji="1" lang="ja-JP" altLang="en-US" sz="28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でオブジェクトの配置データやステータスを設定し、</a:t>
            </a:r>
            <a:endParaRPr kumimoji="1" lang="en-US" altLang="ja-JP" sz="28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r>
              <a:rPr kumimoji="1" lang="en-US" altLang="ja-JP" sz="2800" dirty="0">
                <a:solidFill>
                  <a:schemeClr val="accent6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CSV</a:t>
            </a:r>
            <a:r>
              <a:rPr kumimoji="1" lang="ja-JP" altLang="en-US" sz="28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に書き出しています。</a:t>
            </a:r>
          </a:p>
        </p:txBody>
      </p:sp>
      <p:sp>
        <p:nvSpPr>
          <p:cNvPr id="11" name="矢印: 右 10">
            <a:extLst>
              <a:ext uri="{FF2B5EF4-FFF2-40B4-BE49-F238E27FC236}">
                <a16:creationId xmlns:a16="http://schemas.microsoft.com/office/drawing/2014/main" id="{8FB4DB83-029E-97EA-ED45-859364299DAD}"/>
              </a:ext>
            </a:extLst>
          </p:cNvPr>
          <p:cNvSpPr/>
          <p:nvPr/>
        </p:nvSpPr>
        <p:spPr>
          <a:xfrm>
            <a:off x="6336213" y="3879496"/>
            <a:ext cx="2059133" cy="276806"/>
          </a:xfrm>
          <a:prstGeom prst="right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77064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ADD02B-F565-B06B-C811-9AF8B39A0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85F9CEB9-3917-D1DE-1223-4433E4865BE8}"/>
              </a:ext>
            </a:extLst>
          </p:cNvPr>
          <p:cNvSpPr/>
          <p:nvPr/>
        </p:nvSpPr>
        <p:spPr>
          <a:xfrm>
            <a:off x="554181" y="406400"/>
            <a:ext cx="11083637" cy="5938982"/>
          </a:xfrm>
          <a:prstGeom prst="rect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kumimoji="1" lang="en-US" altLang="ja-JP" sz="2400" dirty="0">
                <a:solidFill>
                  <a:schemeClr val="tx1"/>
                </a:solidFill>
                <a:latin typeface="+mn-ea"/>
              </a:rPr>
              <a:t>	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3D0EF8C-D5C7-7F86-444A-0784E5F63ADD}"/>
              </a:ext>
            </a:extLst>
          </p:cNvPr>
          <p:cNvSpPr txBox="1"/>
          <p:nvPr/>
        </p:nvSpPr>
        <p:spPr>
          <a:xfrm>
            <a:off x="790065" y="492391"/>
            <a:ext cx="503214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5400" u="sng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敵のグループ化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F0B300C-D034-7D96-3997-47293DD3D526}"/>
              </a:ext>
            </a:extLst>
          </p:cNvPr>
          <p:cNvSpPr txBox="1"/>
          <p:nvPr/>
        </p:nvSpPr>
        <p:spPr>
          <a:xfrm>
            <a:off x="2024069" y="1499163"/>
            <a:ext cx="8310288" cy="95410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sz="28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プレイヤーを複数の敵が同時に攻撃しないように</a:t>
            </a:r>
            <a:endParaRPr kumimoji="1" lang="en-US" altLang="ja-JP" sz="28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r>
              <a:rPr kumimoji="1" lang="ja-JP" altLang="en-US" sz="2800" dirty="0">
                <a:solidFill>
                  <a:schemeClr val="accent6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グループ内で</a:t>
            </a:r>
            <a:r>
              <a:rPr kumimoji="1" lang="en-US" altLang="ja-JP" sz="2800" dirty="0">
                <a:solidFill>
                  <a:schemeClr val="accent6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1</a:t>
            </a:r>
            <a:r>
              <a:rPr kumimoji="1" lang="ja-JP" altLang="en-US" sz="2800" dirty="0">
                <a:solidFill>
                  <a:schemeClr val="accent6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人だけ攻撃できる</a:t>
            </a:r>
            <a:r>
              <a:rPr kumimoji="1" lang="ja-JP" altLang="en-US" sz="28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ようにしました。</a:t>
            </a:r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FE999838-3372-E823-DBC5-FC4CF47AB0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160" y="2691254"/>
            <a:ext cx="3189305" cy="2961498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FE71A207-F651-1D68-FA29-E70794418B73}"/>
              </a:ext>
            </a:extLst>
          </p:cNvPr>
          <p:cNvSpPr txBox="1"/>
          <p:nvPr/>
        </p:nvSpPr>
        <p:spPr>
          <a:xfrm>
            <a:off x="1107753" y="5748020"/>
            <a:ext cx="7670103" cy="40011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kumimoji="1" lang="en-US" altLang="ja-JP" sz="20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*</a:t>
            </a:r>
            <a:r>
              <a:rPr kumimoji="1" lang="ja-JP" altLang="en-US" sz="20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画像では各グループを球体の色で分かりやすくしてます。</a:t>
            </a: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42E288B5-D6DA-3A72-F24D-B9C0070DAA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864" b="94553" l="9738" r="96442">
                        <a14:foregroundMark x1="49813" y1="11089" x2="51685" y2="4864"/>
                        <a14:foregroundMark x1="35768" y1="25292" x2="35768" y2="25292"/>
                        <a14:foregroundMark x1="61798" y1="24319" x2="61798" y2="24319"/>
                        <a14:foregroundMark x1="92135" y1="81712" x2="92135" y2="81712"/>
                        <a14:foregroundMark x1="96442" y1="86576" x2="96442" y2="86576"/>
                        <a14:foregroundMark x1="92884" y1="94553" x2="92884" y2="94553"/>
                        <a14:backgroundMark x1="56742" y1="90467" x2="56742" y2="90467"/>
                        <a14:backgroundMark x1="57491" y1="89105" x2="56180" y2="90856"/>
                        <a14:backgroundMark x1="70974" y1="91829" x2="70974" y2="95136"/>
                        <a14:backgroundMark x1="72659" y1="92412" x2="68165" y2="91829"/>
                        <a14:backgroundMark x1="58801" y1="91440" x2="58801" y2="91440"/>
                        <a14:backgroundMark x1="58052" y1="90467" x2="58801" y2="9007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689488" y="4284695"/>
            <a:ext cx="1512148" cy="1455513"/>
          </a:xfrm>
          <a:prstGeom prst="rect">
            <a:avLst/>
          </a:prstGeom>
        </p:spPr>
      </p:pic>
      <p:pic>
        <p:nvPicPr>
          <p:cNvPr id="15" name="図 14">
            <a:extLst>
              <a:ext uri="{FF2B5EF4-FFF2-40B4-BE49-F238E27FC236}">
                <a16:creationId xmlns:a16="http://schemas.microsoft.com/office/drawing/2014/main" id="{9B3D0CEF-8B61-FDF7-279A-3C8071A79D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864" b="94553" l="9738" r="96442">
                        <a14:foregroundMark x1="49813" y1="11089" x2="51685" y2="4864"/>
                        <a14:foregroundMark x1="35768" y1="25292" x2="35768" y2="25292"/>
                        <a14:foregroundMark x1="61798" y1="24319" x2="61798" y2="24319"/>
                        <a14:foregroundMark x1="92135" y1="81712" x2="92135" y2="81712"/>
                        <a14:foregroundMark x1="96442" y1="86576" x2="96442" y2="86576"/>
                        <a14:foregroundMark x1="92884" y1="94553" x2="92884" y2="94553"/>
                        <a14:backgroundMark x1="56742" y1="90467" x2="56742" y2="90467"/>
                        <a14:backgroundMark x1="57491" y1="89105" x2="56180" y2="90856"/>
                        <a14:backgroundMark x1="70974" y1="91829" x2="70974" y2="95136"/>
                        <a14:backgroundMark x1="72659" y1="92412" x2="68165" y2="91829"/>
                        <a14:backgroundMark x1="58801" y1="91440" x2="58801" y2="91440"/>
                        <a14:backgroundMark x1="58052" y1="90467" x2="58801" y2="9007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665194" y="4197240"/>
            <a:ext cx="1512147" cy="1455512"/>
          </a:xfrm>
          <a:prstGeom prst="rect">
            <a:avLst/>
          </a:prstGeom>
        </p:spPr>
      </p:pic>
      <p:pic>
        <p:nvPicPr>
          <p:cNvPr id="16" name="図 15">
            <a:extLst>
              <a:ext uri="{FF2B5EF4-FFF2-40B4-BE49-F238E27FC236}">
                <a16:creationId xmlns:a16="http://schemas.microsoft.com/office/drawing/2014/main" id="{F9479E17-C209-6F63-57D2-85C1A1E85C7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655" b="94253" l="9881" r="94889">
                        <a14:foregroundMark x1="60818" y1="9885" x2="60818" y2="9885"/>
                        <a14:foregroundMark x1="41056" y1="10345" x2="41056" y2="10345"/>
                        <a14:foregroundMark x1="89438" y1="57701" x2="93015" y2="74943"/>
                        <a14:foregroundMark x1="94889" y1="94253" x2="94889" y2="94253"/>
                        <a14:foregroundMark x1="55366" y1="33103" x2="55366" y2="33103"/>
                        <a14:foregroundMark x1="30664" y1="34253" x2="30664" y2="34253"/>
                        <a14:foregroundMark x1="39182" y1="57241" x2="37990" y2="5540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177341" y="2917605"/>
            <a:ext cx="1844786" cy="1367090"/>
          </a:xfrm>
          <a:prstGeom prst="rect">
            <a:avLst/>
          </a:prstGeom>
        </p:spPr>
      </p:pic>
      <p:sp>
        <p:nvSpPr>
          <p:cNvPr id="17" name="楕円 16">
            <a:extLst>
              <a:ext uri="{FF2B5EF4-FFF2-40B4-BE49-F238E27FC236}">
                <a16:creationId xmlns:a16="http://schemas.microsoft.com/office/drawing/2014/main" id="{C0739423-DF38-6F85-C91C-F67946903AC6}"/>
              </a:ext>
            </a:extLst>
          </p:cNvPr>
          <p:cNvSpPr/>
          <p:nvPr/>
        </p:nvSpPr>
        <p:spPr>
          <a:xfrm>
            <a:off x="5091891" y="4924996"/>
            <a:ext cx="1261442" cy="533820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攻撃権</a:t>
            </a:r>
          </a:p>
        </p:txBody>
      </p:sp>
      <p:sp>
        <p:nvSpPr>
          <p:cNvPr id="18" name="矢印: 折線 17">
            <a:extLst>
              <a:ext uri="{FF2B5EF4-FFF2-40B4-BE49-F238E27FC236}">
                <a16:creationId xmlns:a16="http://schemas.microsoft.com/office/drawing/2014/main" id="{2C36A583-4269-B301-02E7-F643814EADD6}"/>
              </a:ext>
            </a:extLst>
          </p:cNvPr>
          <p:cNvSpPr/>
          <p:nvPr/>
        </p:nvSpPr>
        <p:spPr>
          <a:xfrm>
            <a:off x="6179213" y="3390788"/>
            <a:ext cx="1122897" cy="769018"/>
          </a:xfrm>
          <a:prstGeom prst="bent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9" name="矢印: 折線 18">
            <a:extLst>
              <a:ext uri="{FF2B5EF4-FFF2-40B4-BE49-F238E27FC236}">
                <a16:creationId xmlns:a16="http://schemas.microsoft.com/office/drawing/2014/main" id="{DD0F6F70-DEA2-C888-EE0C-53CE506C5398}"/>
              </a:ext>
            </a:extLst>
          </p:cNvPr>
          <p:cNvSpPr/>
          <p:nvPr/>
        </p:nvSpPr>
        <p:spPr>
          <a:xfrm rot="5400000">
            <a:off x="9001685" y="3449442"/>
            <a:ext cx="809901" cy="769018"/>
          </a:xfrm>
          <a:prstGeom prst="bentArrow">
            <a:avLst>
              <a:gd name="adj1" fmla="val 25000"/>
              <a:gd name="adj2" fmla="val 25601"/>
              <a:gd name="adj3" fmla="val 25000"/>
              <a:gd name="adj4" fmla="val 43750"/>
            </a:avLst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20" name="矢印: 右 19">
            <a:extLst>
              <a:ext uri="{FF2B5EF4-FFF2-40B4-BE49-F238E27FC236}">
                <a16:creationId xmlns:a16="http://schemas.microsoft.com/office/drawing/2014/main" id="{68611AC9-F723-B0A5-394E-7B25960B0484}"/>
              </a:ext>
            </a:extLst>
          </p:cNvPr>
          <p:cNvSpPr/>
          <p:nvPr/>
        </p:nvSpPr>
        <p:spPr>
          <a:xfrm rot="10800000">
            <a:off x="7177341" y="4703415"/>
            <a:ext cx="1600515" cy="488491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25BD68BE-8A17-1BAC-C783-4C7AC8105657}"/>
              </a:ext>
            </a:extLst>
          </p:cNvPr>
          <p:cNvSpPr txBox="1"/>
          <p:nvPr/>
        </p:nvSpPr>
        <p:spPr>
          <a:xfrm>
            <a:off x="6045017" y="2615953"/>
            <a:ext cx="38651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グループ内で攻撃を順番に行います。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3E6461D3-15A6-E148-71E9-C5243B6CAA36}"/>
              </a:ext>
            </a:extLst>
          </p:cNvPr>
          <p:cNvSpPr txBox="1"/>
          <p:nvPr/>
        </p:nvSpPr>
        <p:spPr>
          <a:xfrm>
            <a:off x="4788300" y="3680556"/>
            <a:ext cx="17537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600" dirty="0"/>
              <a:t>攻撃後に回す</a:t>
            </a: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1611153E-1906-9621-5D28-C29DAE713599}"/>
              </a:ext>
            </a:extLst>
          </p:cNvPr>
          <p:cNvSpPr txBox="1"/>
          <p:nvPr/>
        </p:nvSpPr>
        <p:spPr>
          <a:xfrm>
            <a:off x="9657379" y="3519727"/>
            <a:ext cx="17537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600" dirty="0"/>
              <a:t>攻撃後に回す</a:t>
            </a: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146039AA-BD02-1A21-7D48-1DCE38AC5042}"/>
              </a:ext>
            </a:extLst>
          </p:cNvPr>
          <p:cNvSpPr txBox="1"/>
          <p:nvPr/>
        </p:nvSpPr>
        <p:spPr>
          <a:xfrm>
            <a:off x="7449378" y="5226083"/>
            <a:ext cx="17537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600" dirty="0"/>
              <a:t>攻撃後に回す</a:t>
            </a:r>
          </a:p>
        </p:txBody>
      </p:sp>
    </p:spTree>
    <p:extLst>
      <p:ext uri="{BB962C8B-B14F-4D97-AF65-F5344CB8AC3E}">
        <p14:creationId xmlns:p14="http://schemas.microsoft.com/office/powerpoint/2010/main" val="38061172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51C4EC-AD4D-D62A-8B4C-9F972EB17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38B12E56-8AA4-EE22-859E-E3F11D938F3A}"/>
              </a:ext>
            </a:extLst>
          </p:cNvPr>
          <p:cNvSpPr/>
          <p:nvPr/>
        </p:nvSpPr>
        <p:spPr>
          <a:xfrm>
            <a:off x="554181" y="406400"/>
            <a:ext cx="11083637" cy="5938982"/>
          </a:xfrm>
          <a:prstGeom prst="rect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kumimoji="1" lang="en-US" altLang="ja-JP" sz="2400" dirty="0">
                <a:solidFill>
                  <a:schemeClr val="tx1"/>
                </a:solidFill>
                <a:latin typeface="+mn-ea"/>
              </a:rPr>
              <a:t>	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3820C24-F20C-1914-1F36-FDABECD426C6}"/>
              </a:ext>
            </a:extLst>
          </p:cNvPr>
          <p:cNvSpPr txBox="1"/>
          <p:nvPr/>
        </p:nvSpPr>
        <p:spPr>
          <a:xfrm>
            <a:off x="817774" y="412845"/>
            <a:ext cx="226215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5400" u="sng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賢い敵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766F228-98F8-01E5-42D6-EDB09CBC668D}"/>
              </a:ext>
            </a:extLst>
          </p:cNvPr>
          <p:cNvSpPr txBox="1"/>
          <p:nvPr/>
        </p:nvSpPr>
        <p:spPr>
          <a:xfrm>
            <a:off x="1156185" y="1428707"/>
            <a:ext cx="9879628" cy="95410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sz="28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障害物を避けて移動や索敵、プレイヤーとの距離を取るなど</a:t>
            </a:r>
            <a:endParaRPr kumimoji="1" lang="en-US" altLang="ja-JP" sz="28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r>
              <a:rPr kumimoji="1" lang="ja-JP" altLang="en-US" sz="2800" dirty="0">
                <a:solidFill>
                  <a:schemeClr val="accent6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行動パターンを増やし状況に合わせて選択</a:t>
            </a:r>
            <a:r>
              <a:rPr kumimoji="1" lang="ja-JP" altLang="en-US" sz="28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しています。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DBC4B0C-AA32-DE88-8395-5EC9561E0411}"/>
              </a:ext>
            </a:extLst>
          </p:cNvPr>
          <p:cNvSpPr txBox="1"/>
          <p:nvPr/>
        </p:nvSpPr>
        <p:spPr>
          <a:xfrm>
            <a:off x="959827" y="5139535"/>
            <a:ext cx="3246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間に障害物があるなら避ける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DA59E604-DF58-2638-C437-2164236166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774" y="3180892"/>
            <a:ext cx="3530565" cy="1497313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642C6B6F-75F0-AEEA-8DEB-57DD4D2C16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3022" y="2935318"/>
            <a:ext cx="2645954" cy="1994437"/>
          </a:xfrm>
          <a:prstGeom prst="rect">
            <a:avLst/>
          </a:prstGeom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66D6E8BB-4943-708A-F5FA-E77F6D8052A7}"/>
              </a:ext>
            </a:extLst>
          </p:cNvPr>
          <p:cNvSpPr txBox="1"/>
          <p:nvPr/>
        </p:nvSpPr>
        <p:spPr>
          <a:xfrm>
            <a:off x="4348339" y="5139535"/>
            <a:ext cx="3751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視界にプレイヤーがいるかを索敵</a:t>
            </a:r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96285E36-5AE7-F2AA-7E20-B253A17BB2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9511" y="2844144"/>
            <a:ext cx="3191192" cy="2156391"/>
          </a:xfrm>
          <a:prstGeom prst="rect">
            <a:avLst/>
          </a:prstGeom>
        </p:spPr>
      </p:pic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EDF60352-F5AA-E0ED-710F-EE3ECC6B53B6}"/>
              </a:ext>
            </a:extLst>
          </p:cNvPr>
          <p:cNvSpPr txBox="1"/>
          <p:nvPr/>
        </p:nvSpPr>
        <p:spPr>
          <a:xfrm>
            <a:off x="7925953" y="5139535"/>
            <a:ext cx="35383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/>
              <a:t>距離調整</a:t>
            </a:r>
          </a:p>
        </p:txBody>
      </p:sp>
    </p:spTree>
    <p:extLst>
      <p:ext uri="{BB962C8B-B14F-4D97-AF65-F5344CB8AC3E}">
        <p14:creationId xmlns:p14="http://schemas.microsoft.com/office/powerpoint/2010/main" val="34812310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メッシュ">
  <a:themeElements>
    <a:clrScheme name="メッシュ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メッシュ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メッシュ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メッシュ</Template>
  <TotalTime>103</TotalTime>
  <Words>250</Words>
  <Application>Microsoft Office PowerPoint</Application>
  <PresentationFormat>ワイド画面</PresentationFormat>
  <Paragraphs>35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0" baseType="lpstr">
      <vt:lpstr>HGS創英角ｺﾞｼｯｸUB</vt:lpstr>
      <vt:lpstr>游ゴシック</vt:lpstr>
      <vt:lpstr>Arial</vt:lpstr>
      <vt:lpstr>Century Gothic</vt:lpstr>
      <vt:lpstr>メッシュ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恋 井上</dc:creator>
  <cp:lastModifiedBy>恋 井上</cp:lastModifiedBy>
  <cp:revision>1</cp:revision>
  <cp:lastPrinted>2025-09-28T07:41:29Z</cp:lastPrinted>
  <dcterms:created xsi:type="dcterms:W3CDTF">2025-09-28T05:59:01Z</dcterms:created>
  <dcterms:modified xsi:type="dcterms:W3CDTF">2025-12-09T23:53:37Z</dcterms:modified>
</cp:coreProperties>
</file>